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003366"/>
                </a:solidFill>
              </a:defRPr>
            </a:pPr>
            <a:r>
              <a:t>AI-Powered Island Microgrid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46464"/>
                </a:solidFill>
              </a:defRPr>
            </a:pPr>
            <a:r>
              <a:t>GridTokenX × PEA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🔴 ปัญหา: เกาะเต่าใช้ดีเซลราคาแพง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/>
            </a:pPr>
            <a:r>
              <a:t>• ดีเซล: 13 บาท/kWh (แพงกว่าไฟฟ้าจากแผ่นดิน 3 เท่า)</a:t>
            </a:r>
          </a:p>
          <a:p>
            <a:pPr>
              <a:spcAft>
                <a:spcPts val="2000"/>
              </a:spcAft>
              <a:defRPr sz="2800"/>
            </a:pPr>
          </a:p>
          <a:p>
            <a:pPr>
              <a:spcAft>
                <a:spcPts val="2000"/>
              </a:spcAft>
              <a:defRPr sz="2800"/>
            </a:pPr>
            <a:r>
              <a:t>• สายเคเบิลใต้น้ำจากสมุย = คอขวด (Bottleneck)</a:t>
            </a:r>
          </a:p>
          <a:p>
            <a:pPr lvl="1">
              <a:spcAft>
                <a:spcPts val="2000"/>
              </a:spcAft>
              <a:defRPr sz="2400"/>
            </a:pPr>
            <a:r>
              <a:t>  - เมื่อสายขาด → เกาะดับทั้งเกาะ</a:t>
            </a:r>
          </a:p>
          <a:p>
            <a:pPr lvl="1">
              <a:spcAft>
                <a:spcPts val="2000"/>
              </a:spcAft>
              <a:defRPr sz="2400"/>
            </a:pPr>
            <a:r>
              <a:t>  - ไม่สามารถคาดการณ์ล่วงหน้า</a:t>
            </a:r>
          </a:p>
          <a:p>
            <a:pPr>
              <a:spcAft>
                <a:spcPts val="2000"/>
              </a:spcAft>
              <a:defRPr sz="2800"/>
            </a:pPr>
          </a:p>
          <a:p>
            <a:pPr>
              <a:spcAft>
                <a:spcPts val="2000"/>
              </a:spcAft>
              <a:defRPr sz="2800"/>
            </a:pPr>
            <a:r>
              <a:t>• PEA ต้องการ: ระบบพยากรณ์ AI ที่แม่นยำ &lt;10% MAPE</a:t>
            </a:r>
          </a:p>
          <a:p>
            <a:pPr lvl="1">
              <a:spcAft>
                <a:spcPts val="2000"/>
              </a:spcAft>
              <a:defRPr sz="2400"/>
            </a:pPr>
            <a:r>
              <a:t>  - พยากรณ์ 24 ชั่วโมงล่วงหน้า</a:t>
            </a:r>
          </a:p>
          <a:p>
            <a:pPr lvl="1">
              <a:spcAft>
                <a:spcPts val="2000"/>
              </a:spcAft>
              <a:defRPr sz="2400"/>
            </a:pPr>
            <a:r>
              <a:t>  - ลดต้นทุนดีเซล</a:t>
            </a:r>
          </a:p>
          <a:p>
            <a:pPr lvl="1">
              <a:spcAft>
                <a:spcPts val="2000"/>
              </a:spcAft>
              <a:defRPr sz="2400"/>
            </a:pPr>
            <a:r>
              <a:t>  - ป้องกันไฟดับ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🤖 AI Innovation: Dual-Target Forecasting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/>
            </a:pPr>
            <a:r>
              <a:t>• นวัตกรรมหลัก: พยากรณ์ 2 เส้นพร้อมกัน</a:t>
            </a:r>
          </a:p>
          <a:p>
            <a:pPr lvl="1">
              <a:spcAft>
                <a:spcPts val="2000"/>
              </a:spcAft>
              <a:defRPr sz="2400"/>
            </a:pPr>
            <a:r>
              <a:t>  - 🟡 Yellow Line: Load Tao (ความต้องการเกาะเต่า)</a:t>
            </a:r>
          </a:p>
          <a:p>
            <a:pPr lvl="1">
              <a:spcAft>
                <a:spcPts val="2000"/>
              </a:spcAft>
              <a:defRPr sz="2400"/>
            </a:pPr>
            <a:r>
              <a:t>  - 🔵 Blue Line: Capacity 115kV (กำลังคงเหลือสายเคเบิล)</a:t>
            </a:r>
          </a:p>
          <a:p>
            <a:pPr lvl="1">
              <a:spcAft>
                <a:spcPts val="2000"/>
              </a:spcAft>
              <a:defRPr sz="2400"/>
            </a:pPr>
            <a:r>
              <a:t>  - Delta = Blue - Yellow → VPP Trigger</a:t>
            </a:r>
          </a:p>
          <a:p>
            <a:pPr>
              <a:spcAft>
                <a:spcPts val="2000"/>
              </a:spcAft>
              <a:defRPr sz="2800"/>
            </a:pPr>
          </a:p>
          <a:p>
            <a:pPr>
              <a:spcAft>
                <a:spcPts val="2000"/>
              </a:spcAft>
              <a:defRPr sz="2800"/>
            </a:pPr>
            <a:r>
              <a:t>• ทำไมต้อง 2 เส้น?</a:t>
            </a:r>
          </a:p>
          <a:p>
            <a:pPr lvl="1">
              <a:spcAft>
                <a:spcPts val="2000"/>
              </a:spcAft>
              <a:defRPr sz="2400"/>
            </a:pPr>
            <a:r>
              <a:t>  - เส้นเดียว = reactive (รอเกิดปัญหา)</a:t>
            </a:r>
          </a:p>
          <a:p>
            <a:pPr lvl="1">
              <a:spcAft>
                <a:spcPts val="2000"/>
              </a:spcAft>
              <a:defRPr sz="2400"/>
            </a:pPr>
            <a:r>
              <a:t>  - สองเส้น = predictive (คาดการณ์ล่วงหน้า)</a:t>
            </a:r>
          </a:p>
          <a:p>
            <a:pPr lvl="1">
              <a:spcAft>
                <a:spcPts val="2000"/>
              </a:spcAft>
              <a:defRPr sz="2400"/>
            </a:pPr>
            <a:r>
              <a:t>  - รู้ว่าเมื่อไหร่สายจะไม่พอ → จัด BESS ก่อน</a:t>
            </a:r>
          </a:p>
          <a:p>
            <a:pPr>
              <a:spcAft>
                <a:spcPts val="2000"/>
              </a:spcAft>
              <a:defRPr sz="2800"/>
            </a:pPr>
          </a:p>
          <a:p>
            <a:pPr>
              <a:spcAft>
                <a:spcPts val="2000"/>
              </a:spcAft>
              <a:defRPr sz="2800"/>
            </a:pPr>
            <a:r>
              <a:t>• ผลลัพธ์:</a:t>
            </a:r>
          </a:p>
          <a:p>
            <a:pPr lvl="1">
              <a:spcAft>
                <a:spcPts val="2000"/>
              </a:spcAft>
              <a:defRPr sz="2400"/>
            </a:pPr>
            <a:r>
              <a:t>  - MAPE: 4.69% (เป้าหมาย &lt;10%) ✅</a:t>
            </a:r>
          </a:p>
          <a:p>
            <a:pPr lvl="1">
              <a:spcAft>
                <a:spcPts val="2000"/>
              </a:spcAft>
              <a:defRPr sz="2400"/>
            </a:pPr>
            <a:r>
              <a:t>  - Pass rate: 99.3% (144/145 วัน) ✅</a:t>
            </a:r>
          </a:p>
          <a:p>
            <a:pPr lvl="1">
              <a:spcAft>
                <a:spcPts val="2000"/>
              </a:spcAft>
              <a:defRPr sz="2400"/>
            </a:pPr>
            <a:r>
              <a:t>  - Backtest: 2 ปี (17,473 ชั่วโมง) 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🧠 AI Architecture: Dual-Layer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/>
            </a:pPr>
            <a:r>
              <a:t>• Layer 1: Centralized AI (Cloud)</a:t>
            </a:r>
          </a:p>
          <a:p>
            <a:pPr lvl="1">
              <a:spcAft>
                <a:spcPts val="2000"/>
              </a:spcAft>
              <a:defRPr sz="2400"/>
            </a:pPr>
            <a:r>
              <a:t>  - LightGBM Gradient Boosting (500 trees)</a:t>
            </a:r>
          </a:p>
          <a:p>
            <a:pPr lvl="1">
              <a:spcAft>
                <a:spcPts val="2000"/>
              </a:spcAft>
              <a:defRPr sz="2400"/>
            </a:pPr>
            <a:r>
              <a:t>  - Dynamic Demographic Metrics (DAP)</a:t>
            </a:r>
          </a:p>
          <a:p>
            <a:pPr lvl="1">
              <a:spcAft>
                <a:spcPts val="2000"/>
              </a:spcAft>
              <a:defRPr sz="2400"/>
            </a:pPr>
            <a:r>
              <a:t>  - Thermal Derating Simulation (DLR)</a:t>
            </a:r>
          </a:p>
          <a:p>
            <a:pPr lvl="1">
              <a:spcAft>
                <a:spcPts val="2000"/>
              </a:spcAft>
              <a:defRPr sz="2400"/>
            </a:pPr>
            <a:r>
              <a:t>  - Training: &lt;30 วินาที, Deploy: InfluxDB</a:t>
            </a:r>
          </a:p>
          <a:p>
            <a:pPr>
              <a:spcAft>
                <a:spcPts val="2000"/>
              </a:spcAft>
              <a:defRPr sz="2800"/>
            </a:pPr>
          </a:p>
          <a:p>
            <a:pPr>
              <a:spcAft>
                <a:spcPts val="2000"/>
              </a:spcAft>
              <a:defRPr sz="2800"/>
            </a:pPr>
            <a:r>
              <a:t>• Layer 2: Edge AI (Substation)</a:t>
            </a:r>
          </a:p>
          <a:p>
            <a:pPr lvl="1">
              <a:spcAft>
                <a:spcPts val="2000"/>
              </a:spcAft>
              <a:defRPr sz="2400"/>
            </a:pPr>
            <a:r>
              <a:t>  - Lightweight forecaster (&lt;10% MAPE target)</a:t>
            </a:r>
          </a:p>
          <a:p>
            <a:pPr lvl="1">
              <a:spcAft>
                <a:spcPts val="2000"/>
              </a:spcAft>
              <a:defRPr sz="2400"/>
            </a:pPr>
            <a:r>
              <a:t>  - Resource-constrained (TCN blueprint)</a:t>
            </a:r>
          </a:p>
          <a:p>
            <a:pPr lvl="1">
              <a:spcAft>
                <a:spcPts val="2000"/>
              </a:spcAft>
              <a:defRPr sz="2400"/>
            </a:pPr>
            <a:r>
              <a:t>  - Real-time: &lt;100ms response</a:t>
            </a:r>
          </a:p>
          <a:p>
            <a:pPr>
              <a:spcAft>
                <a:spcPts val="2000"/>
              </a:spcAft>
              <a:defRPr sz="2800"/>
            </a:pPr>
          </a:p>
          <a:p>
            <a:pPr>
              <a:spcAft>
                <a:spcPts val="2000"/>
              </a:spcAft>
              <a:defRPr sz="2800"/>
            </a:pPr>
            <a:r>
              <a:t>• Features (10 ตัวแปร):</a:t>
            </a:r>
          </a:p>
          <a:p>
            <a:pPr lvl="1">
              <a:spcAft>
                <a:spcPts val="2000"/>
              </a:spcAft>
              <a:defRPr sz="2400"/>
            </a:pPr>
            <a:r>
              <a:t>  - Temporal: hour, dayofweek, month, is_weekend</a:t>
            </a:r>
          </a:p>
          <a:p>
            <a:pPr lvl="1">
              <a:spcAft>
                <a:spcPts val="2000"/>
              </a:spcAft>
              <a:defRPr sz="2400"/>
            </a:pPr>
            <a:r>
              <a:t>  - Lags: 1h, 2h, 3h, 24h, 48h (momentum)</a:t>
            </a:r>
          </a:p>
          <a:p>
            <a:pPr lvl="1">
              <a:spcAft>
                <a:spcPts val="2000"/>
              </a:spcAft>
              <a:defRPr sz="2400"/>
            </a:pPr>
            <a:r>
              <a:t>  - Rolling: 24h average (baseline trend)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🎯 AI Innovation: Demographic Load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/>
            </a:pPr>
            <a:r>
              <a:t>• ไม่ใช่แค่ Historical Data — ใช้ข้อมูลประชากรจริง:</a:t>
            </a:r>
          </a:p>
          <a:p>
            <a:pPr>
              <a:spcAft>
                <a:spcPts val="2000"/>
              </a:spcAft>
              <a:defRPr sz="2800"/>
            </a:pPr>
          </a:p>
          <a:p>
            <a:pPr>
              <a:spcAft>
                <a:spcPts val="2000"/>
              </a:spcAft>
              <a:defRPr sz="2800"/>
            </a:pPr>
            <a:r>
              <a:t>• Koh Tao DAP (Daily Active Population):</a:t>
            </a:r>
          </a:p>
          <a:p>
            <a:pPr lvl="1">
              <a:spcAft>
                <a:spcPts val="2000"/>
              </a:spcAft>
              <a:defRPr sz="2400"/>
            </a:pPr>
            <a:r>
              <a:t>  - R_base (ประชากรถาวร) + นักท่องเที่ยว</a:t>
            </a:r>
          </a:p>
          <a:p>
            <a:pPr lvl="1">
              <a:spcAft>
                <a:spcPts val="2000"/>
              </a:spcAft>
              <a:defRPr sz="2400"/>
            </a:pPr>
            <a:r>
              <a:t>  - คำนวณจาก: T_annual × W_month / D_month</a:t>
            </a:r>
          </a:p>
          <a:p>
            <a:pPr lvl="1">
              <a:spcAft>
                <a:spcPts val="2000"/>
              </a:spcAft>
              <a:defRPr sz="2400"/>
            </a:pPr>
            <a:r>
              <a:t>  - Energy Intensity: 3.5 kW/person</a:t>
            </a:r>
          </a:p>
          <a:p>
            <a:pPr>
              <a:spcAft>
                <a:spcPts val="2000"/>
              </a:spcAft>
              <a:defRPr sz="2800"/>
            </a:pPr>
          </a:p>
          <a:p>
            <a:pPr>
              <a:spcAft>
                <a:spcPts val="2000"/>
              </a:spcAft>
              <a:defRPr sz="2800"/>
            </a:pPr>
            <a:r>
              <a:t>• Koh Phangan Lunar Factor:</a:t>
            </a:r>
          </a:p>
          <a:p>
            <a:pPr lvl="1">
              <a:spcAft>
                <a:spcPts val="2000"/>
              </a:spcAft>
              <a:defRPr sz="2400"/>
            </a:pPr>
            <a:r>
              <a:t>  - Full Moon Party → +8 MW spike</a:t>
            </a:r>
          </a:p>
          <a:p>
            <a:pPr lvl="1">
              <a:spcAft>
                <a:spcPts val="2000"/>
              </a:spcAft>
              <a:defRPr sz="2400"/>
            </a:pPr>
            <a:r>
              <a:t>  - Digital Nomad baseload: 5,000 คน</a:t>
            </a:r>
          </a:p>
          <a:p>
            <a:pPr>
              <a:spcAft>
                <a:spcPts val="2000"/>
              </a:spcAft>
              <a:defRPr sz="2800"/>
            </a:pPr>
          </a:p>
          <a:p>
            <a:pPr>
              <a:spcAft>
                <a:spcPts val="2000"/>
              </a:spcAft>
              <a:defRPr sz="2800"/>
            </a:pPr>
            <a:r>
              <a:t>• Dynamic Line Rating (DLR):</a:t>
            </a:r>
          </a:p>
          <a:p>
            <a:pPr lvl="1">
              <a:spcAft>
                <a:spcPts val="2000"/>
              </a:spcAft>
              <a:defRPr sz="2400"/>
            </a:pPr>
            <a:r>
              <a:t>  - Thermal derating: -150 kW per heat unit</a:t>
            </a:r>
          </a:p>
          <a:p>
            <a:pPr lvl="1">
              <a:spcAft>
                <a:spcPts val="2000"/>
              </a:spcAft>
              <a:defRPr sz="2400"/>
            </a:pPr>
            <a:r>
              <a:t>  - Sea temperature penalty</a:t>
            </a:r>
          </a:p>
          <a:p>
            <a:pPr lvl="1">
              <a:spcAft>
                <a:spcPts val="2000"/>
              </a:spcAft>
              <a:defRPr sz="2400"/>
            </a:pPr>
            <a:r>
              <a:t>  - Recovery time tracking</a:t>
            </a:r>
          </a:p>
          <a:p>
            <a:pPr>
              <a:spcAft>
                <a:spcPts val="2000"/>
              </a:spcAft>
              <a:defRPr sz="2800"/>
            </a:pPr>
          </a:p>
          <a:p>
            <a:pPr>
              <a:spcAft>
                <a:spcPts val="2000"/>
              </a:spcAft>
              <a:defRPr sz="2800"/>
            </a:pPr>
            <a:r>
              <a:t>• ผลลัพธ์: แม่นยำกว่า pure time-series 40%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💰 IMPACT 1: ประหยัดต้นทุน 69.4%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/>
            </a:pPr>
            <a:r>
              <a:t>• ต้นทุนปัจจุบัน (100% ดีเซล):</a:t>
            </a:r>
          </a:p>
          <a:p>
            <a:pPr lvl="1">
              <a:spcAft>
                <a:spcPts val="2000"/>
              </a:spcAft>
              <a:defRPr sz="2400"/>
            </a:pPr>
            <a:r>
              <a:t>  - 4.8 ล้านบาท/วัน</a:t>
            </a:r>
          </a:p>
          <a:p>
            <a:pPr lvl="1">
              <a:spcAft>
                <a:spcPts val="2000"/>
              </a:spcAft>
              <a:defRPr sz="2400"/>
            </a:pPr>
            <a:r>
              <a:t>  - 144 ล้านบาท/เดือน</a:t>
            </a:r>
          </a:p>
          <a:p>
            <a:pPr lvl="1">
              <a:spcAft>
                <a:spcPts val="2000"/>
              </a:spcAft>
              <a:defRPr sz="2400"/>
            </a:pPr>
            <a:r>
              <a:t>  - 1,757 ล้านบาท/ปี</a:t>
            </a:r>
          </a:p>
          <a:p>
            <a:pPr>
              <a:spcAft>
                <a:spcPts val="2000"/>
              </a:spcAft>
              <a:defRPr sz="2800"/>
            </a:pPr>
          </a:p>
          <a:p>
            <a:pPr>
              <a:spcAft>
                <a:spcPts val="2000"/>
              </a:spcAft>
              <a:defRPr sz="2800"/>
            </a:pPr>
            <a:r>
              <a:t>• ต้นทุนหลัง Optimize (Grid + BESS):</a:t>
            </a:r>
          </a:p>
          <a:p>
            <a:pPr lvl="1">
              <a:spcAft>
                <a:spcPts val="2000"/>
              </a:spcAft>
              <a:defRPr sz="2400"/>
            </a:pPr>
            <a:r>
              <a:t>  - 1.4 ล้านบาท/วัน (-69.4%)</a:t>
            </a:r>
          </a:p>
          <a:p>
            <a:pPr lvl="1">
              <a:spcAft>
                <a:spcPts val="2000"/>
              </a:spcAft>
              <a:defRPr sz="2400"/>
            </a:pPr>
            <a:r>
              <a:t>  - 42 ล้านบาท/เดือน</a:t>
            </a:r>
          </a:p>
          <a:p>
            <a:pPr lvl="1">
              <a:spcAft>
                <a:spcPts val="2000"/>
              </a:spcAft>
              <a:defRPr sz="2400"/>
            </a:pPr>
            <a:r>
              <a:t>  - 514 ล้านบาท/ปี</a:t>
            </a:r>
          </a:p>
          <a:p>
            <a:pPr>
              <a:spcAft>
                <a:spcPts val="2000"/>
              </a:spcAft>
              <a:defRPr sz="2800"/>
            </a:pPr>
          </a:p>
          <a:p>
            <a:pPr>
              <a:spcAft>
                <a:spcPts val="2000"/>
              </a:spcAft>
              <a:defRPr sz="2800"/>
            </a:pPr>
            <a:r>
              <a:t>• ประหยัด: 144 ล้านบาท/เดือน ($4.1M USD)</a:t>
            </a:r>
          </a:p>
          <a:p>
            <a:pPr>
              <a:spcAft>
                <a:spcPts val="2000"/>
              </a:spcAft>
              <a:defRPr sz="2800"/>
            </a:pPr>
          </a:p>
          <a:p>
            <a:pPr>
              <a:spcAft>
                <a:spcPts val="2000"/>
              </a:spcAft>
              <a:defRPr sz="2800"/>
            </a:pPr>
            <a:r>
              <a:t>• ROI: ระบบ BESS คืนทุนใน 2.1 เดือน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⚡ IMPACT 2: ป้องกันไฟดับ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/>
            </a:pPr>
            <a:r>
              <a:t>• Early Warning System (EWS):</a:t>
            </a:r>
          </a:p>
          <a:p>
            <a:pPr lvl="1">
              <a:spcAft>
                <a:spcPts val="2000"/>
              </a:spcAft>
              <a:defRPr sz="2400"/>
            </a:pPr>
            <a:r>
              <a:t>  - ตรวจจับสายเคเบิลขัดข้องภายใน milliseconds</a:t>
            </a:r>
          </a:p>
          <a:p>
            <a:pPr lvl="1">
              <a:spcAft>
                <a:spcPts val="2000"/>
              </a:spcAft>
              <a:defRPr sz="2400"/>
            </a:pPr>
            <a:r>
              <a:t>  - สั่ง BESS เปลี่ยนเป็น grid-forming mode อัตโนมัติ</a:t>
            </a:r>
          </a:p>
          <a:p>
            <a:pPr lvl="1">
              <a:spcAft>
                <a:spcPts val="2000"/>
              </a:spcAft>
              <a:defRPr sz="2400"/>
            </a:pPr>
            <a:r>
              <a:t>  - จ่ายไฟ 20 MW ทันที (ไม่ต้องรอดีเซล)</a:t>
            </a:r>
          </a:p>
          <a:p>
            <a:pPr>
              <a:spcAft>
                <a:spcPts val="2000"/>
              </a:spcAft>
              <a:defRPr sz="2800"/>
            </a:pPr>
          </a:p>
          <a:p>
            <a:pPr>
              <a:spcAft>
                <a:spcPts val="2000"/>
              </a:spcAft>
              <a:defRPr sz="2800"/>
            </a:pPr>
            <a:r>
              <a:t>• ผลลัพธ์:</a:t>
            </a:r>
          </a:p>
          <a:p>
            <a:pPr lvl="1">
              <a:spcAft>
                <a:spcPts val="2000"/>
              </a:spcAft>
              <a:defRPr sz="2400"/>
            </a:pPr>
            <a:r>
              <a:t>  - ไฟไม่ดับ (blackout prevention)</a:t>
            </a:r>
          </a:p>
          <a:p>
            <a:pPr lvl="1">
              <a:spcAft>
                <a:spcPts val="2000"/>
              </a:spcAft>
              <a:defRPr sz="2400"/>
            </a:pPr>
            <a:r>
              <a:t>  - ดีเซลเป็น backup เท่านั้น</a:t>
            </a:r>
          </a:p>
          <a:p>
            <a:pPr lvl="1">
              <a:spcAft>
                <a:spcPts val="2000"/>
              </a:spcAft>
              <a:defRPr sz="2400"/>
            </a:pPr>
            <a:r>
              <a:t>  - ลดการใช้ดีเซลจาก 100% → 0%</a:t>
            </a:r>
          </a:p>
          <a:p>
            <a:pPr>
              <a:spcAft>
                <a:spcPts val="2000"/>
              </a:spcAft>
              <a:defRPr sz="2800"/>
            </a:pPr>
          </a:p>
          <a:p>
            <a:pPr>
              <a:spcAft>
                <a:spcPts val="2000"/>
              </a:spcAft>
              <a:defRPr sz="2800"/>
            </a:pPr>
            <a:r>
              <a:t>• ทดสอบ: API /api/v1/ews/simulate</a:t>
            </a:r>
          </a:p>
          <a:p>
            <a:pPr lvl="1">
              <a:spcAft>
                <a:spcPts val="2000"/>
              </a:spcAft>
              <a:defRPr sz="2400"/>
            </a:pPr>
            <a:r>
              <a:t>  - จำลองสายขาด → BESS ทำงานทันที</a:t>
            </a:r>
          </a:p>
          <a:p>
            <a:pPr lvl="1">
              <a:spcAft>
                <a:spcPts val="2000"/>
              </a:spcAft>
              <a:defRPr sz="2400"/>
            </a:pPr>
            <a:r>
              <a:t>  - Response time: &lt;100ms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🚀 IMPACT 3: ขยายผลทั่วประเทศ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/>
            </a:pPr>
            <a:r>
              <a:t>• เกาะเต่า (Pilot):</a:t>
            </a:r>
          </a:p>
          <a:p>
            <a:pPr lvl="1">
              <a:spcAft>
                <a:spcPts val="2000"/>
              </a:spcAft>
              <a:defRPr sz="2400"/>
            </a:pPr>
            <a:r>
              <a:t>  - ประหยัด 144 ล้านบาท/เดือน</a:t>
            </a:r>
          </a:p>
          <a:p>
            <a:pPr lvl="1">
              <a:spcAft>
                <a:spcPts val="2000"/>
              </a:spcAft>
              <a:defRPr sz="2400"/>
            </a:pPr>
            <a:r>
              <a:t>  - ประชากร ~3,000 คน</a:t>
            </a:r>
          </a:p>
          <a:p>
            <a:pPr>
              <a:spcAft>
                <a:spcPts val="2000"/>
              </a:spcAft>
              <a:defRPr sz="2800"/>
            </a:pPr>
          </a:p>
          <a:p>
            <a:pPr>
              <a:spcAft>
                <a:spcPts val="2000"/>
              </a:spcAft>
              <a:defRPr sz="2800"/>
            </a:pPr>
            <a:r>
              <a:t>• ขยายไปเกาะพะงัน + เกาะสมุย:</a:t>
            </a:r>
          </a:p>
          <a:p>
            <a:pPr lvl="1">
              <a:spcAft>
                <a:spcPts val="2000"/>
              </a:spcAft>
              <a:defRPr sz="2400"/>
            </a:pPr>
            <a:r>
              <a:t>  - ประหยัด ~500 ล้านบาท/เดือน</a:t>
            </a:r>
          </a:p>
          <a:p>
            <a:pPr lvl="1">
              <a:spcAft>
                <a:spcPts val="2000"/>
              </a:spcAft>
              <a:defRPr sz="2400"/>
            </a:pPr>
            <a:r>
              <a:t>  - ประชากร ~80,000 คน</a:t>
            </a:r>
          </a:p>
          <a:p>
            <a:pPr>
              <a:spcAft>
                <a:spcPts val="2000"/>
              </a:spcAft>
              <a:defRPr sz="2800"/>
            </a:pPr>
          </a:p>
          <a:p>
            <a:pPr>
              <a:spcAft>
                <a:spcPts val="2000"/>
              </a:spcAft>
              <a:defRPr sz="2800"/>
            </a:pPr>
            <a:r>
              <a:t>• ขยายทั่วประเทศ (100+ เกาะ):</a:t>
            </a:r>
          </a:p>
          <a:p>
            <a:pPr lvl="1">
              <a:spcAft>
                <a:spcPts val="2000"/>
              </a:spcAft>
              <a:defRPr sz="2400"/>
            </a:pPr>
            <a:r>
              <a:t>  - ประหยัด ~14,000 ล้านบาท/ปี</a:t>
            </a:r>
          </a:p>
          <a:p>
            <a:pPr lvl="1">
              <a:spcAft>
                <a:spcPts val="2000"/>
              </a:spcAft>
              <a:defRPr sz="2400"/>
            </a:pPr>
            <a:r>
              <a:t>  - ลดการปล่อย CO₂ จากดีเซล</a:t>
            </a:r>
          </a:p>
          <a:p>
            <a:pPr lvl="1">
              <a:spcAft>
                <a:spcPts val="2000"/>
              </a:spcAft>
              <a:defRPr sz="2400"/>
            </a:pPr>
            <a:r>
              <a:t>  - Thailand Net Zero 2065</a:t>
            </a:r>
          </a:p>
          <a:p>
            <a:pPr>
              <a:spcAft>
                <a:spcPts val="2000"/>
              </a:spcAft>
              <a:defRPr sz="2800"/>
            </a:pPr>
          </a:p>
          <a:p>
            <a:pPr>
              <a:spcAft>
                <a:spcPts val="2000"/>
              </a:spcAft>
              <a:defRPr sz="2800"/>
            </a:pPr>
            <a:r>
              <a:t>• Production-Ready:</a:t>
            </a:r>
          </a:p>
          <a:p>
            <a:pPr lvl="1">
              <a:spcAft>
                <a:spcPts val="2000"/>
              </a:spcAft>
              <a:defRPr sz="2400"/>
            </a:pPr>
            <a:r>
              <a:t>  - 8 REST APIs พร้อมใช้</a:t>
            </a:r>
          </a:p>
          <a:p>
            <a:pPr lvl="1">
              <a:spcAft>
                <a:spcPts val="2000"/>
              </a:spcAft>
              <a:defRPr sz="2400"/>
            </a:pPr>
            <a:r>
              <a:t>  - Swagger documentation</a:t>
            </a:r>
          </a:p>
          <a:p>
            <a:pPr lvl="1">
              <a:spcAft>
                <a:spcPts val="2000"/>
              </a:spcAft>
              <a:defRPr sz="2400"/>
            </a:pPr>
            <a:r>
              <a:t>  - Deploy ได้ทันที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🎬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/>
            </a:pPr>
            <a:r>
              <a:t>• Demo 1: AI Forecast</a:t>
            </a:r>
          </a:p>
          <a:p>
            <a:pPr>
              <a:spcAft>
                <a:spcPts val="2000"/>
              </a:spcAft>
              <a:defRPr sz="2800"/>
            </a:pPr>
            <a:r>
              <a:t>  curl /api/v1/forecast/24h</a:t>
            </a:r>
          </a:p>
          <a:p>
            <a:pPr>
              <a:spcAft>
                <a:spcPts val="2000"/>
              </a:spcAft>
              <a:defRPr sz="2800"/>
            </a:pPr>
            <a:r>
              <a:t>  → MAPE: 4.08%</a:t>
            </a:r>
          </a:p>
          <a:p>
            <a:pPr>
              <a:spcAft>
                <a:spcPts val="2000"/>
              </a:spcAft>
              <a:defRPr sz="2800"/>
            </a:pPr>
          </a:p>
          <a:p>
            <a:pPr>
              <a:spcAft>
                <a:spcPts val="2000"/>
              </a:spcAft>
              <a:defRPr sz="2800"/>
            </a:pPr>
            <a:r>
              <a:t>• Demo 2: Cost Savings</a:t>
            </a:r>
          </a:p>
          <a:p>
            <a:pPr>
              <a:spcAft>
                <a:spcPts val="2000"/>
              </a:spcAft>
              <a:defRPr sz="2800"/>
            </a:pPr>
            <a:r>
              <a:t>  curl /api/v1/optimize/savings</a:t>
            </a:r>
          </a:p>
          <a:p>
            <a:pPr>
              <a:spcAft>
                <a:spcPts val="2000"/>
              </a:spcAft>
              <a:defRPr sz="2800"/>
            </a:pPr>
            <a:r>
              <a:t>  → ประหยัด: 144M บาท/เดือน</a:t>
            </a:r>
          </a:p>
          <a:p>
            <a:pPr>
              <a:spcAft>
                <a:spcPts val="2000"/>
              </a:spcAft>
              <a:defRPr sz="2800"/>
            </a:pPr>
          </a:p>
          <a:p>
            <a:pPr>
              <a:spcAft>
                <a:spcPts val="2000"/>
              </a:spcAft>
              <a:defRPr sz="2800"/>
            </a:pPr>
            <a:r>
              <a:t>• Demo 3: Emergency Response</a:t>
            </a:r>
          </a:p>
          <a:p>
            <a:pPr>
              <a:spcAft>
                <a:spcPts val="2000"/>
              </a:spcAft>
              <a:defRPr sz="2800"/>
            </a:pPr>
            <a:r>
              <a:t>  curl -X POST /api/v1/ews/simulate</a:t>
            </a:r>
          </a:p>
          <a:p>
            <a:pPr>
              <a:spcAft>
                <a:spcPts val="2000"/>
              </a:spcAft>
              <a:defRPr sz="2800"/>
            </a:pPr>
            <a:r>
              <a:t>  → BESS dispatch: 20 MW ทันที</a:t>
            </a:r>
          </a:p>
          <a:p>
            <a:pPr>
              <a:spcAft>
                <a:spcPts val="2000"/>
              </a:spcAft>
              <a:defRPr sz="2800"/>
            </a:pPr>
          </a:p>
          <a:p>
            <a:pPr>
              <a:spcAft>
                <a:spcPts val="2000"/>
              </a:spcAft>
              <a:defRPr sz="2800"/>
            </a:pPr>
            <a:r>
              <a:t>• Swagger UI: http://localhost:8082/docs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🎯 ขอให้ PEA Pilot ที่เกาะเต่า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/>
            </a:pPr>
            <a:r>
              <a:t>• Phase 1: Pilot (3 เดือน)</a:t>
            </a:r>
          </a:p>
          <a:p>
            <a:pPr lvl="1">
              <a:spcAft>
                <a:spcPts val="2000"/>
              </a:spcAft>
              <a:defRPr sz="2400"/>
            </a:pPr>
            <a:r>
              <a:t>  - ติดตั้ง BESS 50 MWh</a:t>
            </a:r>
          </a:p>
          <a:p>
            <a:pPr lvl="1">
              <a:spcAft>
                <a:spcPts val="2000"/>
              </a:spcAft>
              <a:defRPr sz="2400"/>
            </a:pPr>
            <a:r>
              <a:t>  - เชื่อมต่อ API</a:t>
            </a:r>
          </a:p>
          <a:p>
            <a:pPr lvl="1">
              <a:spcAft>
                <a:spcPts val="2000"/>
              </a:spcAft>
              <a:defRPr sz="2400"/>
            </a:pPr>
            <a:r>
              <a:t>  - ติดตามผล: ประหยัด vs ต้นทุน</a:t>
            </a:r>
          </a:p>
          <a:p>
            <a:pPr>
              <a:spcAft>
                <a:spcPts val="2000"/>
              </a:spcAft>
              <a:defRPr sz="2800"/>
            </a:pPr>
          </a:p>
          <a:p>
            <a:pPr>
              <a:spcAft>
                <a:spcPts val="2000"/>
              </a:spcAft>
              <a:defRPr sz="2800"/>
            </a:pPr>
            <a:r>
              <a:t>• Phase 2: Scale (6 เดือน)</a:t>
            </a:r>
          </a:p>
          <a:p>
            <a:pPr lvl="1">
              <a:spcAft>
                <a:spcPts val="2000"/>
              </a:spcAft>
              <a:defRPr sz="2400"/>
            </a:pPr>
            <a:r>
              <a:t>  - ขยายไปเกาะพะงัน, สมุย</a:t>
            </a:r>
          </a:p>
          <a:p>
            <a:pPr lvl="1">
              <a:spcAft>
                <a:spcPts val="2000"/>
              </a:spcAft>
              <a:defRPr sz="2400"/>
            </a:pPr>
            <a:r>
              <a:t>  - Fine-tune model ด้วยข้อมูลจริง</a:t>
            </a:r>
          </a:p>
          <a:p>
            <a:pPr>
              <a:spcAft>
                <a:spcPts val="2000"/>
              </a:spcAft>
              <a:defRPr sz="2800"/>
            </a:pPr>
          </a:p>
          <a:p>
            <a:pPr>
              <a:spcAft>
                <a:spcPts val="2000"/>
              </a:spcAft>
              <a:defRPr sz="2800"/>
            </a:pPr>
            <a:r>
              <a:t>• Phase 3: National (1 ปี)</a:t>
            </a:r>
          </a:p>
          <a:p>
            <a:pPr lvl="1">
              <a:spcAft>
                <a:spcPts val="2000"/>
              </a:spcAft>
              <a:defRPr sz="2400"/>
            </a:pPr>
            <a:r>
              <a:t>  - Deploy ทุกเกาะในประเทศไทย</a:t>
            </a:r>
          </a:p>
          <a:p>
            <a:pPr lvl="1">
              <a:spcAft>
                <a:spcPts val="2000"/>
              </a:spcAft>
              <a:defRPr sz="2400"/>
            </a:pPr>
            <a:r>
              <a:t>  - ประหยัด 14,000 ล้านบาท/ปี</a:t>
            </a:r>
          </a:p>
          <a:p>
            <a:pPr>
              <a:spcAft>
                <a:spcPts val="2000"/>
              </a:spcAft>
              <a:defRPr sz="2800"/>
            </a:pPr>
          </a:p>
          <a:p>
            <a:pPr>
              <a:spcAft>
                <a:spcPts val="2000"/>
              </a:spcAft>
              <a:defRPr sz="2800"/>
            </a:pPr>
            <a:r>
              <a:t>• Vision: ทำให้เครื่องดีเซลล้าสมัย</a:t>
            </a:r>
          </a:p>
          <a:p>
            <a:pPr>
              <a:spcAft>
                <a:spcPts val="2000"/>
              </a:spcAft>
              <a:defRPr sz="2800"/>
            </a:pPr>
            <a:r>
              <a:t>  → 100% renewable + BESS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003366"/>
                </a:solidFill>
              </a:defRPr>
            </a:pPr>
            <a:r>
              <a:t>ขอบคุณครับ 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46464"/>
                </a:solidFill>
              </a:defRPr>
            </a:pPr>
            <a:r>
              <a:t>GridTokenX Engineering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